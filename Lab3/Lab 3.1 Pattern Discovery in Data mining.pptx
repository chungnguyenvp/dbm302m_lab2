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Tahom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Tahoma-bold.fntdata"/><Relationship Id="rId14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4c725f66d2_0_22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24c725f66d2_0_22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4c725f66d2_0_226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4c725f66d2_0_23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4c725f66d2_0_23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4c725f66d2_0_2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4c725f66d2_0_2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4c725f66d2_0_44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24c725f66d2_0_44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c725f66d2_0_45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4c725f66d2_0_45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4c725f66d2_0_46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24c725f66d2_0_46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2" name="Google Shape;122;p14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95" name="Google Shape;195;p16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3" name="Google Shape;213;p19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0" name="Google Shape;220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2" name="Google Shape;52;p13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53" name="Google Shape;53;p13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54" name="Google Shape;54;p13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55" name="Google Shape;55;p13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6" name="Google Shape;56;p13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7" name="Google Shape;57;p13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13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9" name="Google Shape;59;p13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" name="Google Shape;60;p13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1" name="Google Shape;61;p13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2" name="Google Shape;62;p13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3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3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3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3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3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3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3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3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3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3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3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3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3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3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3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3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3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3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3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3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3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3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3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3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3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3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3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3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3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3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3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3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3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3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3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06" name="Google Shape;106;p13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07" name="Google Shape;107;p13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08" name="Google Shape;108;p13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13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13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1" name="Google Shape;111;p13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2" name="Google Shape;112;p13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13" name="Google Shape;113;p13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3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5" name="Google Shape;115;p13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16" name="Google Shape;116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17" name="Google Shape;117;p13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5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27" name="Google Shape;127;p15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28" name="Google Shape;128;p15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29" name="Google Shape;129;p15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0" name="Google Shape;130;p15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1" name="Google Shape;131;p15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2" name="Google Shape;132;p15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3" name="Google Shape;133;p15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4" name="Google Shape;134;p15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5" name="Google Shape;135;p15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6" name="Google Shape;136;p15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5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5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5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5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5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5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5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5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5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5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5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5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5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5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1" name="Google Shape;151;p15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2" name="Google Shape;152;p15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5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5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5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5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5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8" name="Google Shape;158;p15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9" name="Google Shape;159;p15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5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5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5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5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5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5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5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5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5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5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5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5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5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5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5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5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5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5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5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5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5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1" name="Google Shape;181;p15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2" name="Google Shape;182;p15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83" name="Google Shape;183;p15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84" name="Google Shape;184;p15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86" name="Google Shape;186;p15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87" name="Google Shape;187;p1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88" name="Google Shape;188;p15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9" name="Google Shape;189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0" name="Google Shape;190;p15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3.1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35" name="Google Shape;235;p2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 t</a:t>
            </a:r>
            <a:r>
              <a:rPr lang="en-GB" sz="1800">
                <a:solidFill>
                  <a:srgbClr val="1F1F1F"/>
                </a:solidFill>
              </a:rPr>
              <a:t>he process of pattern discovery in data mining and hands-on experience with pattern discovery techniques.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Duration: 1 slot session (approximately 2.15 hours)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4" name="Google Shape;244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1: Introduction to Pattern Discovery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</a:t>
            </a:r>
            <a:r>
              <a:rPr lang="en-GB" sz="1800">
                <a:solidFill>
                  <a:srgbClr val="1F1F1F"/>
                </a:solidFill>
              </a:rPr>
              <a:t> the concept and significance of pattern discovery in data mining.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real-world applications where pattern discovery is valuable.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How patterns can be useful for decision-making and insights.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3" name="Google Shape;253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2: Exploring Pattern Discovery Techniques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various pattern discovery techniques, including frequent itemset mining, sequential pattern mining, and clustering.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 examples of each technique's application.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2" name="Google Shape;262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3: Hands-on Pattern Discovery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Work on</a:t>
            </a:r>
            <a:r>
              <a:rPr lang="en-GB" sz="1800">
                <a:solidFill>
                  <a:srgbClr val="1F1F1F"/>
                </a:solidFill>
              </a:rPr>
              <a:t> a given dataset(e.g., transaction data, time series data, or any dataset of interest).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Choose one pattern discovery technique and apply it to the dataset.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Depending on the technique chosen:</a:t>
            </a:r>
            <a:endParaRPr sz="1800">
              <a:solidFill>
                <a:srgbClr val="1F1F1F"/>
              </a:solidFill>
            </a:endParaRPr>
          </a:p>
          <a:p>
            <a:pPr indent="-234314" lvl="2" marL="11430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Identify frequent itemsets using Apriori or FP-Growth.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Discover sequential patterns using GSP or PrefixSpan.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 data to identify inherent patterns.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1" name="Google Shape;271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4: Interpretation and Presentation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Interpret the patterns they've discovered.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Create visualizations or reports to present their findings.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the real-world implications of the discovered patterns.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2" name="Google Shape;2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